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Roboto"/>
      <p:regular r:id="rId13"/>
      <p:bold r:id="rId14"/>
      <p:italic r:id="rId15"/>
      <p:boldItalic r:id="rId16"/>
    </p:embeddedFont>
    <p:embeddedFont>
      <p:font typeface="Old Standard TT"/>
      <p:regular r:id="rId17"/>
      <p:bold r:id="rId18"/>
      <p:italic r:id="rId19"/>
    </p:embeddedFont>
    <p:embeddedFont>
      <p:font typeface="Roboto Mon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regular.fntdata"/><Relationship Id="rId11" Type="http://schemas.openxmlformats.org/officeDocument/2006/relationships/slide" Target="slides/slide6.xml"/><Relationship Id="rId22" Type="http://schemas.openxmlformats.org/officeDocument/2006/relationships/font" Target="fonts/RobotoMono-italic.fntdata"/><Relationship Id="rId10" Type="http://schemas.openxmlformats.org/officeDocument/2006/relationships/slide" Target="slides/slide5.xml"/><Relationship Id="rId21" Type="http://schemas.openxmlformats.org/officeDocument/2006/relationships/font" Target="fonts/RobotoMono-bold.fntdata"/><Relationship Id="rId13" Type="http://schemas.openxmlformats.org/officeDocument/2006/relationships/font" Target="fonts/Roboto-regular.fntdata"/><Relationship Id="rId12" Type="http://schemas.openxmlformats.org/officeDocument/2006/relationships/slide" Target="slides/slide7.xml"/><Relationship Id="rId23" Type="http://schemas.openxmlformats.org/officeDocument/2006/relationships/font" Target="fonts/RobotoMon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italic.fntdata"/><Relationship Id="rId14" Type="http://schemas.openxmlformats.org/officeDocument/2006/relationships/font" Target="fonts/Roboto-bold.fntdata"/><Relationship Id="rId17" Type="http://schemas.openxmlformats.org/officeDocument/2006/relationships/font" Target="fonts/OldStandardTT-regular.fntdata"/><Relationship Id="rId16" Type="http://schemas.openxmlformats.org/officeDocument/2006/relationships/font" Target="fonts/Roboto-boldItalic.fntdata"/><Relationship Id="rId5" Type="http://schemas.openxmlformats.org/officeDocument/2006/relationships/notesMaster" Target="notesMasters/notesMaster1.xml"/><Relationship Id="rId19" Type="http://schemas.openxmlformats.org/officeDocument/2006/relationships/font" Target="fonts/OldStandardTT-italic.fntdata"/><Relationship Id="rId6" Type="http://schemas.openxmlformats.org/officeDocument/2006/relationships/slide" Target="slides/slide1.xml"/><Relationship Id="rId18" Type="http://schemas.openxmlformats.org/officeDocument/2006/relationships/font" Target="fonts/OldStandardT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11d10530e5_0_7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11d10530e5_0_7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11d10530e5_0_7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11d10530e5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11d10530e5_0_7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11d10530e5_0_7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11d10530e5_0_7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11d10530e5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11d10530e5_0_7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11d10530e5_0_7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11d10530e5_0_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11d10530e5_0_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824000" y="1613825"/>
            <a:ext cx="4944000" cy="1872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Student Performance</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fontScale="62500"/>
          </a:bodyPr>
          <a:lstStyle/>
          <a:p>
            <a:pPr indent="0" lvl="0" marL="0" rtl="0" algn="l">
              <a:spcBef>
                <a:spcPts val="0"/>
              </a:spcBef>
              <a:spcAft>
                <a:spcPts val="0"/>
              </a:spcAft>
              <a:buNone/>
            </a:pPr>
            <a:r>
              <a:rPr lang="en"/>
              <a:t>CIS 508 </a:t>
            </a:r>
            <a:endParaRPr/>
          </a:p>
          <a:p>
            <a:pPr indent="0" lvl="0" marL="0" rtl="0" algn="l">
              <a:spcBef>
                <a:spcPts val="0"/>
              </a:spcBef>
              <a:spcAft>
                <a:spcPts val="0"/>
              </a:spcAft>
              <a:buNone/>
            </a:pPr>
            <a:r>
              <a:rPr lang="en"/>
              <a:t>Jacqueline Chiu, Harul Murugan Ramamoorthy Soppana, Koushika Ravikumar, Pranay Shah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Conceptual Model &amp; Business Problem</a:t>
            </a:r>
            <a:endParaRPr b="1"/>
          </a:p>
        </p:txBody>
      </p:sp>
      <p:sp>
        <p:nvSpPr>
          <p:cNvPr id="66" name="Google Shape;66;p14"/>
          <p:cNvSpPr txBox="1"/>
          <p:nvPr>
            <p:ph idx="1" type="body"/>
          </p:nvPr>
        </p:nvSpPr>
        <p:spPr>
          <a:xfrm>
            <a:off x="1044050" y="1597875"/>
            <a:ext cx="7450800" cy="2933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solidFill>
                  <a:srgbClr val="2D3B45"/>
                </a:solidFill>
                <a:latin typeface="Roboto"/>
                <a:ea typeface="Roboto"/>
                <a:cs typeface="Roboto"/>
                <a:sym typeface="Roboto"/>
              </a:rPr>
              <a:t>Conceptual Model: </a:t>
            </a:r>
            <a:r>
              <a:rPr lang="en" sz="2000">
                <a:solidFill>
                  <a:srgbClr val="2D3B45"/>
                </a:solidFill>
                <a:latin typeface="Roboto"/>
                <a:ea typeface="Roboto"/>
                <a:cs typeface="Roboto"/>
                <a:sym typeface="Roboto"/>
              </a:rPr>
              <a:t>This model aims to predict students' academic performance based on demographic and preparatory features.</a:t>
            </a:r>
            <a:endParaRPr sz="2000">
              <a:solidFill>
                <a:srgbClr val="2D3B45"/>
              </a:solidFill>
              <a:latin typeface="Roboto"/>
              <a:ea typeface="Roboto"/>
              <a:cs typeface="Roboto"/>
              <a:sym typeface="Roboto"/>
            </a:endParaRPr>
          </a:p>
          <a:p>
            <a:pPr indent="0" lvl="0" marL="0" rtl="0" algn="l">
              <a:spcBef>
                <a:spcPts val="1200"/>
              </a:spcBef>
              <a:spcAft>
                <a:spcPts val="1200"/>
              </a:spcAft>
              <a:buNone/>
            </a:pPr>
            <a:r>
              <a:rPr b="1" lang="en" sz="2000">
                <a:solidFill>
                  <a:srgbClr val="2D3B45"/>
                </a:solidFill>
                <a:latin typeface="Roboto"/>
                <a:ea typeface="Roboto"/>
                <a:cs typeface="Roboto"/>
                <a:sym typeface="Roboto"/>
              </a:rPr>
              <a:t>Business Problem:</a:t>
            </a:r>
            <a:r>
              <a:rPr lang="en" sz="2000">
                <a:solidFill>
                  <a:srgbClr val="2D3B45"/>
                </a:solidFill>
                <a:latin typeface="Roboto"/>
                <a:ea typeface="Roboto"/>
                <a:cs typeface="Roboto"/>
                <a:sym typeface="Roboto"/>
              </a:rPr>
              <a:t> The goal is to identify students at risk of low performance, allowing targeted interventions to improve academic outcomes.</a:t>
            </a:r>
            <a:endParaRPr sz="2000">
              <a:solidFill>
                <a:srgbClr val="2D3B45"/>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Machine Learning Problem, Type, &amp; Task</a:t>
            </a:r>
            <a:endParaRPr b="1"/>
          </a:p>
        </p:txBody>
      </p:sp>
      <p:sp>
        <p:nvSpPr>
          <p:cNvPr id="72" name="Google Shape;72;p15"/>
          <p:cNvSpPr txBox="1"/>
          <p:nvPr>
            <p:ph idx="1" type="body"/>
          </p:nvPr>
        </p:nvSpPr>
        <p:spPr>
          <a:xfrm>
            <a:off x="986675" y="1514450"/>
            <a:ext cx="7698300" cy="326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2D3B45"/>
                </a:solidFill>
                <a:latin typeface="Roboto"/>
                <a:ea typeface="Roboto"/>
                <a:cs typeface="Roboto"/>
                <a:sym typeface="Roboto"/>
              </a:rPr>
              <a:t>Machine Learning Problem:</a:t>
            </a:r>
            <a:r>
              <a:rPr lang="en" sz="2000">
                <a:solidFill>
                  <a:srgbClr val="2D3B45"/>
                </a:solidFill>
                <a:latin typeface="Roboto"/>
                <a:ea typeface="Roboto"/>
                <a:cs typeface="Roboto"/>
                <a:sym typeface="Roboto"/>
              </a:rPr>
              <a:t> Predict students' total or average score based on demographic and educational preparation features.</a:t>
            </a:r>
            <a:endParaRPr sz="2000">
              <a:solidFill>
                <a:srgbClr val="2D3B45"/>
              </a:solidFill>
              <a:latin typeface="Roboto"/>
              <a:ea typeface="Roboto"/>
              <a:cs typeface="Roboto"/>
              <a:sym typeface="Roboto"/>
            </a:endParaRPr>
          </a:p>
          <a:p>
            <a:pPr indent="0" lvl="0" marL="0" rtl="0" algn="l">
              <a:spcBef>
                <a:spcPts val="1200"/>
              </a:spcBef>
              <a:spcAft>
                <a:spcPts val="0"/>
              </a:spcAft>
              <a:buNone/>
            </a:pPr>
            <a:r>
              <a:rPr b="1" lang="en" sz="2000">
                <a:solidFill>
                  <a:srgbClr val="2D3B45"/>
                </a:solidFill>
                <a:latin typeface="Roboto"/>
                <a:ea typeface="Roboto"/>
                <a:cs typeface="Roboto"/>
                <a:sym typeface="Roboto"/>
              </a:rPr>
              <a:t>Type of Learning: </a:t>
            </a:r>
            <a:r>
              <a:rPr lang="en" sz="2000">
                <a:solidFill>
                  <a:srgbClr val="2D3B45"/>
                </a:solidFill>
                <a:latin typeface="Roboto"/>
                <a:ea typeface="Roboto"/>
                <a:cs typeface="Roboto"/>
                <a:sym typeface="Roboto"/>
              </a:rPr>
              <a:t>This is </a:t>
            </a:r>
            <a:r>
              <a:rPr lang="en" sz="2000">
                <a:solidFill>
                  <a:srgbClr val="2D3B45"/>
                </a:solidFill>
                <a:latin typeface="Arial"/>
                <a:ea typeface="Arial"/>
                <a:cs typeface="Arial"/>
                <a:sym typeface="Arial"/>
              </a:rPr>
              <a:t>supervised learning -</a:t>
            </a:r>
            <a:r>
              <a:rPr b="1" lang="en" sz="2000">
                <a:solidFill>
                  <a:srgbClr val="2D3B45"/>
                </a:solidFill>
                <a:latin typeface="Arial"/>
                <a:ea typeface="Arial"/>
                <a:cs typeface="Arial"/>
                <a:sym typeface="Arial"/>
              </a:rPr>
              <a:t> </a:t>
            </a:r>
            <a:r>
              <a:rPr lang="en" sz="2000">
                <a:solidFill>
                  <a:srgbClr val="2D3B45"/>
                </a:solidFill>
                <a:latin typeface="Arial"/>
                <a:ea typeface="Arial"/>
                <a:cs typeface="Arial"/>
                <a:sym typeface="Arial"/>
              </a:rPr>
              <a:t>a</a:t>
            </a:r>
            <a:r>
              <a:rPr lang="en" sz="2000">
                <a:solidFill>
                  <a:srgbClr val="2D3B45"/>
                </a:solidFill>
                <a:latin typeface="Arial"/>
                <a:ea typeface="Arial"/>
                <a:cs typeface="Arial"/>
                <a:sym typeface="Arial"/>
              </a:rPr>
              <a:t>s</a:t>
            </a:r>
            <a:r>
              <a:rPr lang="en" sz="2000">
                <a:solidFill>
                  <a:srgbClr val="2D3B45"/>
                </a:solidFill>
                <a:latin typeface="Arial"/>
                <a:ea typeface="Arial"/>
                <a:cs typeface="Arial"/>
                <a:sym typeface="Arial"/>
              </a:rPr>
              <a:t> we have labeled outcomes in the form of scores.</a:t>
            </a:r>
            <a:endParaRPr sz="2000">
              <a:solidFill>
                <a:srgbClr val="2D3B45"/>
              </a:solidFill>
              <a:latin typeface="Roboto"/>
              <a:ea typeface="Roboto"/>
              <a:cs typeface="Roboto"/>
              <a:sym typeface="Roboto"/>
            </a:endParaRPr>
          </a:p>
          <a:p>
            <a:pPr indent="0" lvl="0" marL="0" rtl="0" algn="l">
              <a:spcBef>
                <a:spcPts val="1200"/>
              </a:spcBef>
              <a:spcAft>
                <a:spcPts val="1200"/>
              </a:spcAft>
              <a:buNone/>
            </a:pPr>
            <a:r>
              <a:rPr b="1" lang="en" sz="2000">
                <a:solidFill>
                  <a:srgbClr val="2D3B45"/>
                </a:solidFill>
                <a:latin typeface="Roboto"/>
                <a:ea typeface="Roboto"/>
                <a:cs typeface="Roboto"/>
                <a:sym typeface="Roboto"/>
              </a:rPr>
              <a:t>ML Task / Model:</a:t>
            </a:r>
            <a:r>
              <a:rPr lang="en" sz="2000">
                <a:solidFill>
                  <a:srgbClr val="2D3B45"/>
                </a:solidFill>
                <a:latin typeface="Roboto"/>
                <a:ea typeface="Roboto"/>
                <a:cs typeface="Roboto"/>
                <a:sym typeface="Roboto"/>
              </a:rPr>
              <a:t> Regression Model - </a:t>
            </a:r>
            <a:r>
              <a:rPr lang="en" sz="2000">
                <a:solidFill>
                  <a:srgbClr val="2D3B45"/>
                </a:solidFill>
                <a:latin typeface="Arial"/>
                <a:ea typeface="Arial"/>
                <a:cs typeface="Arial"/>
                <a:sym typeface="Arial"/>
              </a:rPr>
              <a:t>more suitable because the primary goal seems to be predicting continuous outcomes, such as the </a:t>
            </a:r>
            <a:r>
              <a:rPr b="1" lang="en" sz="2000">
                <a:solidFill>
                  <a:srgbClr val="2D3B45"/>
                </a:solidFill>
                <a:latin typeface="Arial"/>
                <a:ea typeface="Arial"/>
                <a:cs typeface="Arial"/>
                <a:sym typeface="Arial"/>
              </a:rPr>
              <a:t>total score</a:t>
            </a:r>
            <a:r>
              <a:rPr lang="en" sz="2000">
                <a:solidFill>
                  <a:srgbClr val="2D3B45"/>
                </a:solidFill>
                <a:latin typeface="Arial"/>
                <a:ea typeface="Arial"/>
                <a:cs typeface="Arial"/>
                <a:sym typeface="Arial"/>
              </a:rPr>
              <a:t> or </a:t>
            </a:r>
            <a:r>
              <a:rPr b="1" lang="en" sz="2000">
                <a:solidFill>
                  <a:srgbClr val="2D3B45"/>
                </a:solidFill>
                <a:latin typeface="Arial"/>
                <a:ea typeface="Arial"/>
                <a:cs typeface="Arial"/>
                <a:sym typeface="Arial"/>
              </a:rPr>
              <a:t>average score.</a:t>
            </a:r>
            <a:endParaRPr sz="2000">
              <a:solidFill>
                <a:srgbClr val="2D3B45"/>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Sample Data </a:t>
            </a:r>
            <a:endParaRPr b="1"/>
          </a:p>
        </p:txBody>
      </p:sp>
      <p:pic>
        <p:nvPicPr>
          <p:cNvPr id="78" name="Google Shape;78;p16"/>
          <p:cNvPicPr preferRelativeResize="0"/>
          <p:nvPr/>
        </p:nvPicPr>
        <p:blipFill>
          <a:blip r:embed="rId3">
            <a:alphaModFix/>
          </a:blip>
          <a:stretch>
            <a:fillRect/>
          </a:stretch>
        </p:blipFill>
        <p:spPr>
          <a:xfrm>
            <a:off x="263938" y="1632338"/>
            <a:ext cx="8616124" cy="1878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Target Variable &amp; Useful Features</a:t>
            </a:r>
            <a:endParaRPr b="1"/>
          </a:p>
        </p:txBody>
      </p:sp>
      <p:sp>
        <p:nvSpPr>
          <p:cNvPr id="84" name="Google Shape;84;p17"/>
          <p:cNvSpPr txBox="1"/>
          <p:nvPr>
            <p:ph idx="1" type="body"/>
          </p:nvPr>
        </p:nvSpPr>
        <p:spPr>
          <a:xfrm>
            <a:off x="1021100" y="1468550"/>
            <a:ext cx="7313100" cy="3063000"/>
          </a:xfrm>
          <a:prstGeom prst="rect">
            <a:avLst/>
          </a:prstGeom>
        </p:spPr>
        <p:txBody>
          <a:bodyPr anchorCtr="0" anchor="t" bIns="91425" lIns="91425" spcFirstLastPara="1" rIns="91425" wrap="square" tIns="91425">
            <a:normAutofit fontScale="55000"/>
          </a:bodyPr>
          <a:lstStyle/>
          <a:p>
            <a:pPr indent="0" lvl="0" marL="0" rtl="0" algn="l">
              <a:spcBef>
                <a:spcPts val="0"/>
              </a:spcBef>
              <a:spcAft>
                <a:spcPts val="0"/>
              </a:spcAft>
              <a:buNone/>
            </a:pPr>
            <a:r>
              <a:rPr b="1" lang="en" sz="2850">
                <a:solidFill>
                  <a:srgbClr val="2D3B45"/>
                </a:solidFill>
                <a:latin typeface="Roboto"/>
                <a:ea typeface="Roboto"/>
                <a:cs typeface="Roboto"/>
                <a:sym typeface="Roboto"/>
              </a:rPr>
              <a:t>Target Variable:</a:t>
            </a:r>
            <a:r>
              <a:rPr lang="en" sz="2850">
                <a:solidFill>
                  <a:srgbClr val="2D3B45"/>
                </a:solidFill>
                <a:latin typeface="Roboto"/>
                <a:ea typeface="Roboto"/>
                <a:cs typeface="Roboto"/>
                <a:sym typeface="Roboto"/>
              </a:rPr>
              <a:t> </a:t>
            </a:r>
            <a:r>
              <a:rPr lang="en" sz="2850">
                <a:solidFill>
                  <a:srgbClr val="000000"/>
                </a:solidFill>
                <a:latin typeface="Arial"/>
                <a:ea typeface="Arial"/>
                <a:cs typeface="Arial"/>
                <a:sym typeface="Arial"/>
              </a:rPr>
              <a:t>Average Score (mean of the three subject scores) represents the general performance level across subjects. It’s beneficial if you want to normalize performance for easy comparison or if you’re focusing on average proficiency across subjects, rather than total achievement.</a:t>
            </a:r>
            <a:endParaRPr sz="2850">
              <a:solidFill>
                <a:srgbClr val="000000"/>
              </a:solidFill>
              <a:latin typeface="Arial"/>
              <a:ea typeface="Arial"/>
              <a:cs typeface="Arial"/>
              <a:sym typeface="Arial"/>
            </a:endParaRPr>
          </a:p>
          <a:p>
            <a:pPr indent="0" lvl="0" marL="0" rtl="0" algn="l">
              <a:spcBef>
                <a:spcPts val="0"/>
              </a:spcBef>
              <a:spcAft>
                <a:spcPts val="0"/>
              </a:spcAft>
              <a:buNone/>
            </a:pPr>
            <a:r>
              <a:t/>
            </a:r>
            <a:endParaRPr sz="2850">
              <a:solidFill>
                <a:srgbClr val="000000"/>
              </a:solidFill>
              <a:latin typeface="Arial"/>
              <a:ea typeface="Arial"/>
              <a:cs typeface="Arial"/>
              <a:sym typeface="Arial"/>
            </a:endParaRPr>
          </a:p>
          <a:p>
            <a:pPr indent="0" lvl="0" marL="0" rtl="0" algn="l">
              <a:spcBef>
                <a:spcPts val="0"/>
              </a:spcBef>
              <a:spcAft>
                <a:spcPts val="0"/>
              </a:spcAft>
              <a:buNone/>
            </a:pPr>
            <a:r>
              <a:rPr b="1" lang="en" sz="2850">
                <a:solidFill>
                  <a:srgbClr val="2D3B45"/>
                </a:solidFill>
                <a:latin typeface="Roboto"/>
                <a:ea typeface="Roboto"/>
                <a:cs typeface="Roboto"/>
                <a:sym typeface="Roboto"/>
              </a:rPr>
              <a:t>Useful Features: </a:t>
            </a:r>
            <a:endParaRPr b="1" sz="2850">
              <a:solidFill>
                <a:srgbClr val="2D3B45"/>
              </a:solidFill>
              <a:latin typeface="Roboto"/>
              <a:ea typeface="Roboto"/>
              <a:cs typeface="Roboto"/>
              <a:sym typeface="Roboto"/>
            </a:endParaRPr>
          </a:p>
          <a:p>
            <a:pPr indent="-328136" lvl="0" marL="457200" rtl="0" algn="l">
              <a:spcBef>
                <a:spcPts val="0"/>
              </a:spcBef>
              <a:spcAft>
                <a:spcPts val="0"/>
              </a:spcAft>
              <a:buSzPct val="100000"/>
              <a:buChar char="-"/>
            </a:pPr>
            <a:r>
              <a:rPr lang="en" sz="2850">
                <a:solidFill>
                  <a:srgbClr val="000000"/>
                </a:solidFill>
                <a:latin typeface="Arial"/>
                <a:ea typeface="Arial"/>
                <a:cs typeface="Arial"/>
                <a:sym typeface="Arial"/>
              </a:rPr>
              <a:t>Demographic Data: </a:t>
            </a:r>
            <a:r>
              <a:rPr lang="en" sz="2850">
                <a:solidFill>
                  <a:srgbClr val="188038"/>
                </a:solidFill>
                <a:latin typeface="Roboto Mono"/>
                <a:ea typeface="Roboto Mono"/>
                <a:cs typeface="Roboto Mono"/>
                <a:sym typeface="Roboto Mono"/>
              </a:rPr>
              <a:t>gender</a:t>
            </a:r>
            <a:r>
              <a:rPr lang="en" sz="2850">
                <a:solidFill>
                  <a:srgbClr val="000000"/>
                </a:solidFill>
                <a:latin typeface="Arial"/>
                <a:ea typeface="Arial"/>
                <a:cs typeface="Arial"/>
                <a:sym typeface="Arial"/>
              </a:rPr>
              <a:t>, </a:t>
            </a:r>
            <a:r>
              <a:rPr lang="en" sz="2850">
                <a:solidFill>
                  <a:srgbClr val="188038"/>
                </a:solidFill>
                <a:latin typeface="Roboto Mono"/>
                <a:ea typeface="Roboto Mono"/>
                <a:cs typeface="Roboto Mono"/>
                <a:sym typeface="Roboto Mono"/>
              </a:rPr>
              <a:t>race_ethnicity</a:t>
            </a:r>
            <a:endParaRPr sz="2850">
              <a:solidFill>
                <a:srgbClr val="188038"/>
              </a:solidFill>
              <a:latin typeface="Roboto Mono"/>
              <a:ea typeface="Roboto Mono"/>
              <a:cs typeface="Roboto Mono"/>
              <a:sym typeface="Roboto Mono"/>
            </a:endParaRPr>
          </a:p>
          <a:p>
            <a:pPr indent="-328136" lvl="0" marL="457200" rtl="0" algn="l">
              <a:spcBef>
                <a:spcPts val="0"/>
              </a:spcBef>
              <a:spcAft>
                <a:spcPts val="0"/>
              </a:spcAft>
              <a:buSzPct val="100000"/>
              <a:buChar char="-"/>
            </a:pPr>
            <a:r>
              <a:rPr lang="en" sz="2850">
                <a:solidFill>
                  <a:srgbClr val="000000"/>
                </a:solidFill>
                <a:latin typeface="Arial"/>
                <a:ea typeface="Arial"/>
                <a:cs typeface="Arial"/>
                <a:sym typeface="Arial"/>
              </a:rPr>
              <a:t>Parental Education: </a:t>
            </a:r>
            <a:r>
              <a:rPr lang="en" sz="2850">
                <a:solidFill>
                  <a:srgbClr val="188038"/>
                </a:solidFill>
                <a:latin typeface="Roboto Mono"/>
                <a:ea typeface="Roboto Mono"/>
                <a:cs typeface="Roboto Mono"/>
                <a:sym typeface="Roboto Mono"/>
              </a:rPr>
              <a:t>parental_level_of_education</a:t>
            </a:r>
            <a:endParaRPr sz="2850">
              <a:solidFill>
                <a:srgbClr val="188038"/>
              </a:solidFill>
              <a:latin typeface="Roboto Mono"/>
              <a:ea typeface="Roboto Mono"/>
              <a:cs typeface="Roboto Mono"/>
              <a:sym typeface="Roboto Mono"/>
            </a:endParaRPr>
          </a:p>
          <a:p>
            <a:pPr indent="-328136" lvl="0" marL="457200" rtl="0" algn="l">
              <a:spcBef>
                <a:spcPts val="0"/>
              </a:spcBef>
              <a:spcAft>
                <a:spcPts val="0"/>
              </a:spcAft>
              <a:buSzPct val="100000"/>
              <a:buChar char="-"/>
            </a:pPr>
            <a:r>
              <a:rPr lang="en" sz="2850">
                <a:solidFill>
                  <a:srgbClr val="000000"/>
                </a:solidFill>
                <a:latin typeface="Arial"/>
                <a:ea typeface="Arial"/>
                <a:cs typeface="Arial"/>
                <a:sym typeface="Arial"/>
              </a:rPr>
              <a:t>School Support: </a:t>
            </a:r>
            <a:r>
              <a:rPr lang="en" sz="2850">
                <a:solidFill>
                  <a:srgbClr val="188038"/>
                </a:solidFill>
                <a:latin typeface="Roboto Mono"/>
                <a:ea typeface="Roboto Mono"/>
                <a:cs typeface="Roboto Mono"/>
                <a:sym typeface="Roboto Mono"/>
              </a:rPr>
              <a:t>lunch</a:t>
            </a:r>
            <a:r>
              <a:rPr lang="en" sz="2850">
                <a:solidFill>
                  <a:srgbClr val="000000"/>
                </a:solidFill>
                <a:latin typeface="Arial"/>
                <a:ea typeface="Arial"/>
                <a:cs typeface="Arial"/>
                <a:sym typeface="Arial"/>
              </a:rPr>
              <a:t>, </a:t>
            </a:r>
            <a:r>
              <a:rPr lang="en" sz="2850">
                <a:solidFill>
                  <a:srgbClr val="188038"/>
                </a:solidFill>
                <a:latin typeface="Roboto Mono"/>
                <a:ea typeface="Roboto Mono"/>
                <a:cs typeface="Roboto Mono"/>
                <a:sym typeface="Roboto Mono"/>
              </a:rPr>
              <a:t>test_preparation_course</a:t>
            </a:r>
            <a:endParaRPr sz="2850">
              <a:solidFill>
                <a:srgbClr val="188038"/>
              </a:solidFill>
              <a:latin typeface="Roboto Mono"/>
              <a:ea typeface="Roboto Mono"/>
              <a:cs typeface="Roboto Mono"/>
              <a:sym typeface="Roboto Mono"/>
            </a:endParaRPr>
          </a:p>
          <a:p>
            <a:pPr indent="-328136" lvl="0" marL="457200" rtl="0" algn="l">
              <a:spcBef>
                <a:spcPts val="0"/>
              </a:spcBef>
              <a:spcAft>
                <a:spcPts val="0"/>
              </a:spcAft>
              <a:buSzPct val="100000"/>
              <a:buChar char="-"/>
            </a:pPr>
            <a:r>
              <a:rPr lang="en" sz="2850">
                <a:solidFill>
                  <a:srgbClr val="000000"/>
                </a:solidFill>
                <a:latin typeface="Arial"/>
                <a:ea typeface="Arial"/>
                <a:cs typeface="Arial"/>
                <a:sym typeface="Arial"/>
              </a:rPr>
              <a:t>Subject Scores: </a:t>
            </a:r>
            <a:r>
              <a:rPr lang="en" sz="2850">
                <a:solidFill>
                  <a:srgbClr val="188038"/>
                </a:solidFill>
                <a:latin typeface="Roboto Mono"/>
                <a:ea typeface="Roboto Mono"/>
                <a:cs typeface="Roboto Mono"/>
                <a:sym typeface="Roboto Mono"/>
              </a:rPr>
              <a:t>math_score</a:t>
            </a:r>
            <a:r>
              <a:rPr lang="en" sz="2850">
                <a:solidFill>
                  <a:srgbClr val="000000"/>
                </a:solidFill>
                <a:latin typeface="Arial"/>
                <a:ea typeface="Arial"/>
                <a:cs typeface="Arial"/>
                <a:sym typeface="Arial"/>
              </a:rPr>
              <a:t>, </a:t>
            </a:r>
            <a:r>
              <a:rPr lang="en" sz="2850">
                <a:solidFill>
                  <a:srgbClr val="188038"/>
                </a:solidFill>
                <a:latin typeface="Roboto Mono"/>
                <a:ea typeface="Roboto Mono"/>
                <a:cs typeface="Roboto Mono"/>
                <a:sym typeface="Roboto Mono"/>
              </a:rPr>
              <a:t>reading_score</a:t>
            </a:r>
            <a:r>
              <a:rPr lang="en" sz="2850">
                <a:solidFill>
                  <a:srgbClr val="000000"/>
                </a:solidFill>
                <a:latin typeface="Arial"/>
                <a:ea typeface="Arial"/>
                <a:cs typeface="Arial"/>
                <a:sym typeface="Arial"/>
              </a:rPr>
              <a:t>, </a:t>
            </a:r>
            <a:r>
              <a:rPr lang="en" sz="2850">
                <a:solidFill>
                  <a:srgbClr val="188038"/>
                </a:solidFill>
                <a:latin typeface="Roboto Mono"/>
                <a:ea typeface="Roboto Mono"/>
                <a:cs typeface="Roboto Mono"/>
                <a:sym typeface="Roboto Mono"/>
              </a:rPr>
              <a:t>writing_score</a:t>
            </a:r>
            <a:endParaRPr sz="2850">
              <a:solidFill>
                <a:srgbClr val="188038"/>
              </a:solidFill>
              <a:latin typeface="Roboto Mono"/>
              <a:ea typeface="Roboto Mono"/>
              <a:cs typeface="Roboto Mono"/>
              <a:sym typeface="Roboto Mono"/>
            </a:endParaRPr>
          </a:p>
          <a:p>
            <a:pPr indent="0" lvl="0" marL="0" rtl="0" algn="l">
              <a:spcBef>
                <a:spcPts val="0"/>
              </a:spcBef>
              <a:spcAft>
                <a:spcPts val="0"/>
              </a:spcAft>
              <a:buNone/>
            </a:pPr>
            <a:r>
              <a:t/>
            </a:r>
            <a:endParaRPr sz="1200">
              <a:solidFill>
                <a:srgbClr val="2D3B45"/>
              </a:solidFill>
              <a:highlight>
                <a:srgbClr val="FFFFFF"/>
              </a:highlight>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a:t>Business Value</a:t>
            </a:r>
            <a:endParaRPr b="1"/>
          </a:p>
        </p:txBody>
      </p:sp>
      <p:sp>
        <p:nvSpPr>
          <p:cNvPr id="90" name="Google Shape;90;p18"/>
          <p:cNvSpPr txBox="1"/>
          <p:nvPr>
            <p:ph idx="1" type="body"/>
          </p:nvPr>
        </p:nvSpPr>
        <p:spPr>
          <a:xfrm>
            <a:off x="952250" y="1525900"/>
            <a:ext cx="7606500" cy="3269700"/>
          </a:xfrm>
          <a:prstGeom prst="rect">
            <a:avLst/>
          </a:prstGeom>
        </p:spPr>
        <p:txBody>
          <a:bodyPr anchorCtr="0" anchor="t" bIns="91425" lIns="91425" spcFirstLastPara="1" rIns="91425" wrap="square" tIns="91425">
            <a:noAutofit/>
          </a:bodyPr>
          <a:lstStyle/>
          <a:p>
            <a:pPr indent="0" lvl="0" marL="0" rtl="0" algn="l">
              <a:spcBef>
                <a:spcPts val="1200"/>
              </a:spcBef>
              <a:spcAft>
                <a:spcPts val="1200"/>
              </a:spcAft>
              <a:buNone/>
            </a:pPr>
            <a:r>
              <a:rPr lang="en" sz="1700">
                <a:solidFill>
                  <a:srgbClr val="2D3B45"/>
                </a:solidFill>
                <a:latin typeface="Roboto"/>
                <a:ea typeface="Roboto"/>
                <a:cs typeface="Roboto"/>
                <a:sym typeface="Roboto"/>
              </a:rPr>
              <a:t>By predicting academic performance, schools can deploy targeted strategies to support at-risk students, thereby improving individual student outcomes and overall school performance metrics. Early interventions based on predicted scores allow educational institutions to allocate resources more effectively, optimize student success rates, and close achievement gaps. For policymakers, this data-driven approach also offers insights into how socio-economic factors influence education, supporting more equitable policies and funding allocations.</a:t>
            </a:r>
            <a:endParaRPr sz="1700">
              <a:solidFill>
                <a:srgbClr val="2D3B45"/>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Thank you!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