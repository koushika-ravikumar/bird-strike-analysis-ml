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0ddd5ccf7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0ddd5ccf7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0ddd5ccf7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0ddd5ccf7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0ddd5ccf7_0_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0ddd5ccf7_0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0ddd5ccf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20ddd5ccf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0ddd5ccf7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0ddd5ccf7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0ddd5ccf7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0ddd5ccf7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0ddd5ccf7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20ddd5ccf7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0ddd5ccf7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0ddd5ccf7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0ddd5ccf7_0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20ddd5ccf7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20ddd5ccf7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20ddd5ccf7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20ddd5ccf7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20ddd5ccf7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0ddd5ccf7_0_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20ddd5ccf7_0_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0ddd5ccf7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20ddd5ccf7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0ddd5ccf7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20ddd5ccf7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20ddd5ccf7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20ddd5ccf7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0ddd5ccf7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0ddd5ccf7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0ddd5ccf7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20ddd5ccf7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0ddd5ccf7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20ddd5ccf7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20e425f8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20e425f8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0" y="1895701"/>
            <a:ext cx="5361300" cy="13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Bird Strikes in Aviation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408350" y="3027575"/>
            <a:ext cx="63273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Team 207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Jacqueline Chiu, Harul Murugan </a:t>
            </a:r>
            <a:r>
              <a:rPr lang="en" sz="1300"/>
              <a:t>Ramamoorthy</a:t>
            </a:r>
            <a:r>
              <a:rPr lang="en" sz="1300"/>
              <a:t> Soppana, Koushika Ravikumar, Pranay Shah</a:t>
            </a:r>
            <a:endParaRPr sz="1300"/>
          </a:p>
        </p:txBody>
      </p:sp>
      <p:pic>
        <p:nvPicPr>
          <p:cNvPr id="130" name="Google Shape;13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25" y="463525"/>
            <a:ext cx="2256482" cy="159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400" y="428750"/>
            <a:ext cx="2619575" cy="14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19150" y="1190775"/>
            <a:ext cx="7505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Bird strikes </a:t>
            </a:r>
            <a:r>
              <a:rPr lang="en" sz="2000"/>
              <a:t>- collisions between aircraft and wildlife - pose serious risks, particularly during low-altitude flight phases like takeoff and landing, where they can damage jets and even cause fatal accidents.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Objective:</a:t>
            </a:r>
            <a:r>
              <a:rPr lang="en" sz="2000"/>
              <a:t> Enhance safety, minimize costs, ensure compliance, and deliver reliable travel experiences.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 Models &amp; Goals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819150" y="1190775"/>
            <a:ext cx="7505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Predictive Analysis: 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Goal:</a:t>
            </a:r>
            <a:r>
              <a:rPr lang="en" sz="2000"/>
              <a:t> Predict the likelihood of a bird strike, the </a:t>
            </a:r>
            <a:r>
              <a:rPr lang="en" sz="2000"/>
              <a:t>occurrence</a:t>
            </a:r>
            <a:r>
              <a:rPr lang="en" sz="2000"/>
              <a:t> and severity of damage, and the financial costs associated.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Models:</a:t>
            </a:r>
            <a:r>
              <a:rPr lang="en" sz="2000"/>
              <a:t> Logistic Regression, Decision Tree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Cost Analysis: 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Goal: </a:t>
            </a:r>
            <a:r>
              <a:rPr lang="en" sz="2000"/>
              <a:t>Analyze the financial impact of bird strikes and identify the factors that escalate costs.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b="1" lang="en" sz="2000"/>
              <a:t>Models:</a:t>
            </a:r>
            <a:r>
              <a:rPr lang="en" sz="2000"/>
              <a:t> ADA Boosting, Random Forest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Importance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819150" y="1519475"/>
            <a:ext cx="2174400" cy="29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Safety</a:t>
            </a:r>
            <a:r>
              <a:rPr b="1" lang="en" sz="1600"/>
              <a:t>: 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Bird strikes pose significant safety risks to </a:t>
            </a:r>
            <a:r>
              <a:rPr lang="en" sz="1600"/>
              <a:t>passengers, crew, and aircraft, especially during critical flight phases like takeoff and landing. </a:t>
            </a:r>
            <a:endParaRPr sz="1600"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>
            <p:ph idx="2" type="body"/>
          </p:nvPr>
        </p:nvSpPr>
        <p:spPr>
          <a:xfrm>
            <a:off x="3529200" y="1519475"/>
            <a:ext cx="2085600" cy="29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Economic Impact: </a:t>
            </a:r>
            <a:endParaRPr b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Bird strikes can lead to costly repairs, delays, and operational disruptions, impacting airlines’ financial stability. </a:t>
            </a:r>
            <a:endParaRPr sz="1600"/>
          </a:p>
        </p:txBody>
      </p:sp>
      <p:sp>
        <p:nvSpPr>
          <p:cNvPr id="157" name="Google Shape;157;p16"/>
          <p:cNvSpPr txBox="1"/>
          <p:nvPr/>
        </p:nvSpPr>
        <p:spPr>
          <a:xfrm>
            <a:off x="6213900" y="1519475"/>
            <a:ext cx="2256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Operational Efficiency: 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By identifying risk factors, airlines and regulators can develop proactive strategies to reduce bird strikes, enhancing operational efficiency. 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819150" y="1190775"/>
            <a:ext cx="7505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Airlines and Operators:</a:t>
            </a:r>
            <a:r>
              <a:rPr lang="en" sz="2000"/>
              <a:t> To minimize costs and enhance safety.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Regulatory </a:t>
            </a:r>
            <a:r>
              <a:rPr b="1" lang="en" sz="2000"/>
              <a:t>Authorities</a:t>
            </a:r>
            <a:r>
              <a:rPr b="1" lang="en" sz="2000"/>
              <a:t> (FAA): </a:t>
            </a:r>
            <a:r>
              <a:rPr lang="en" sz="2000"/>
              <a:t>To enforce safety protocols and evaluate policies.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Airport</a:t>
            </a:r>
            <a:r>
              <a:rPr b="1" lang="en" sz="2000"/>
              <a:t> Authorities:</a:t>
            </a:r>
            <a:r>
              <a:rPr lang="en" sz="2000"/>
              <a:t> To manage local wildlife (birds) and reduce risks and around runways.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Aircraft </a:t>
            </a:r>
            <a:r>
              <a:rPr b="1" lang="en" sz="2000"/>
              <a:t>Manufacturers</a:t>
            </a:r>
            <a:r>
              <a:rPr b="1" lang="en" sz="2000"/>
              <a:t>: </a:t>
            </a:r>
            <a:r>
              <a:rPr lang="en" sz="2000"/>
              <a:t>To </a:t>
            </a:r>
            <a:r>
              <a:rPr lang="en" sz="2000"/>
              <a:t>improvise</a:t>
            </a:r>
            <a:r>
              <a:rPr lang="en" sz="2000"/>
              <a:t> designs to withstand wildlife encounters.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Passengers and Crew:</a:t>
            </a:r>
            <a:r>
              <a:rPr lang="en" sz="2000"/>
              <a:t> For whom safety is paramount.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819150" y="1190775"/>
            <a:ext cx="7505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Total Number of Records (Incidents)</a:t>
            </a:r>
            <a:r>
              <a:rPr lang="en" sz="2000"/>
              <a:t> = 25,429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Data period: </a:t>
            </a:r>
            <a:r>
              <a:rPr lang="en" sz="2000"/>
              <a:t>2000-2011 provided by the FAA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Target Variable:</a:t>
            </a:r>
            <a:r>
              <a:rPr lang="en" sz="2000"/>
              <a:t> ‘damage_encoded’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Predictors for Predictive Analysis: 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‘Altitude’, ‘FlightPhase’, ‘WildlifeSpecies’, “PilotWarned’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Predictors for Cost Analysis: </a:t>
            </a:r>
            <a:endParaRPr b="1"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‘Cost’, ‘NumberStruckActual’, ‘AircraftType’, ‘Engines’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Understanding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3889375" y="1270150"/>
            <a:ext cx="4480800" cy="15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Engine Type 2 has the most incidents reported, </a:t>
            </a:r>
            <a:r>
              <a:rPr lang="en" sz="2000"/>
              <a:t>exceeding</a:t>
            </a:r>
            <a:r>
              <a:rPr lang="en" sz="2000"/>
              <a:t> 20,000.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550" y="1065913"/>
            <a:ext cx="3292675" cy="192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350" y="2925675"/>
            <a:ext cx="3396876" cy="2000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3923400" y="3072950"/>
            <a:ext cx="4401600" cy="16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Bin [0,625] has the highest frequency of Altitude incidents.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Data Understanding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 txBox="1"/>
          <p:nvPr>
            <p:ph idx="1" type="body"/>
          </p:nvPr>
        </p:nvSpPr>
        <p:spPr>
          <a:xfrm>
            <a:off x="819150" y="3112775"/>
            <a:ext cx="6486000" cy="13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 total </a:t>
            </a:r>
            <a:r>
              <a:rPr lang="en" sz="7200"/>
              <a:t>number</a:t>
            </a:r>
            <a:r>
              <a:rPr lang="en" sz="7200"/>
              <a:t> of collisions appeared to gradually increase each year starting in 2003, and sees a significant increase in 2009 followed. This is followed by a slight decrease in 2010 and 2011. </a:t>
            </a:r>
            <a:endParaRPr sz="72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200"/>
              <a:t>The ‘approach’ Flight Phase contributes to 41.02% of collisions, making it the riskiest flight phase. </a:t>
            </a:r>
            <a:endParaRPr sz="7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785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5575" y="1105614"/>
            <a:ext cx="3609275" cy="200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625" y="1190788"/>
            <a:ext cx="3759125" cy="183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Logistic Regression</a:t>
            </a:r>
            <a:endParaRPr sz="2550"/>
          </a:p>
        </p:txBody>
      </p:sp>
      <p:sp>
        <p:nvSpPr>
          <p:cNvPr id="200" name="Google Shape;200;p21"/>
          <p:cNvSpPr txBox="1"/>
          <p:nvPr>
            <p:ph idx="1" type="body"/>
          </p:nvPr>
        </p:nvSpPr>
        <p:spPr>
          <a:xfrm>
            <a:off x="819150" y="1190775"/>
            <a:ext cx="7505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3900" y="1622900"/>
            <a:ext cx="4136200" cy="314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Logistic Regression Results</a:t>
            </a:r>
            <a:endParaRPr sz="2550"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819150" y="1679950"/>
            <a:ext cx="3591900" cy="27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Accuracy: 0.93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Precision: 0.92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Recall: 0.93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F1 S</a:t>
            </a:r>
            <a:r>
              <a:rPr lang="en" sz="2000"/>
              <a:t>c</a:t>
            </a:r>
            <a:r>
              <a:rPr lang="en" sz="2000"/>
              <a:t>ore: 0.91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8450" y="1679951"/>
            <a:ext cx="4113175" cy="283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Decision Tree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1121700" y="1354175"/>
            <a:ext cx="7203000" cy="30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9450" y="1455350"/>
            <a:ext cx="5365100" cy="342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Decision Tree Results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819150" y="3952725"/>
            <a:ext cx="7505700" cy="4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/>
              <a:t>Accuracy: </a:t>
            </a:r>
            <a:r>
              <a:rPr lang="en" sz="8000"/>
              <a:t>0.93 ; </a:t>
            </a:r>
            <a:r>
              <a:rPr b="1" lang="en" sz="8000"/>
              <a:t>Precision:</a:t>
            </a:r>
            <a:r>
              <a:rPr lang="en" sz="8000"/>
              <a:t> 0.93 ; </a:t>
            </a:r>
            <a:r>
              <a:rPr b="1" lang="en" sz="8000"/>
              <a:t>Recall:</a:t>
            </a:r>
            <a:r>
              <a:rPr lang="en" sz="8000"/>
              <a:t> 0.93 ; </a:t>
            </a:r>
            <a:r>
              <a:rPr b="1" lang="en" sz="8000"/>
              <a:t>F1 Score:</a:t>
            </a:r>
            <a:r>
              <a:rPr lang="en" sz="8000"/>
              <a:t> 0.92</a:t>
            </a:r>
            <a:endParaRPr sz="8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7050" y="1563400"/>
            <a:ext cx="3215050" cy="236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9454" y="1660250"/>
            <a:ext cx="3285297" cy="216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Decision Tree Results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6825" y="1478250"/>
            <a:ext cx="6790776" cy="33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ADA Boosting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pic>
        <p:nvPicPr>
          <p:cNvPr id="245" name="Google Shape;2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000" y="1754425"/>
            <a:ext cx="83820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Random Forest Results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5600" y="1513200"/>
            <a:ext cx="3390874" cy="290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8525" y="1513212"/>
            <a:ext cx="3277300" cy="27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748400" y="4376975"/>
            <a:ext cx="75057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0.93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Precision: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0.94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Recall: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0.98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F1 Score: 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0.96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ADA Boosting Results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pic>
        <p:nvPicPr>
          <p:cNvPr id="263" name="Google Shape;2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450" y="1500250"/>
            <a:ext cx="3225700" cy="28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3850" y="1586650"/>
            <a:ext cx="3361450" cy="26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8"/>
          <p:cNvSpPr txBox="1"/>
          <p:nvPr/>
        </p:nvSpPr>
        <p:spPr>
          <a:xfrm>
            <a:off x="1054550" y="4410975"/>
            <a:ext cx="7200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Accuracy: 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0.93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Precision: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0.94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Recall: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0.99 ; </a:t>
            </a:r>
            <a:r>
              <a:rPr b="1"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F1 Score:</a:t>
            </a:r>
            <a:r>
              <a:rPr lang="en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0.96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Analysis: 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/>
              <a:t>Random Forest</a:t>
            </a:r>
            <a:endParaRPr sz="2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/>
          </a:p>
        </p:txBody>
      </p:sp>
      <p:pic>
        <p:nvPicPr>
          <p:cNvPr id="273" name="Google Shape;27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1900" y="2609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350" y="1608700"/>
            <a:ext cx="8393225" cy="23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0"/>
          <p:cNvSpPr txBox="1"/>
          <p:nvPr>
            <p:ph idx="1" type="body"/>
          </p:nvPr>
        </p:nvSpPr>
        <p:spPr>
          <a:xfrm>
            <a:off x="580250" y="1295400"/>
            <a:ext cx="8144700" cy="32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Safety Risk Assessment: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The "approach" flight phase is the riskiest, accounting for over 41% of bird strike incidents. This highlights the need for targeted mitigation efforts during this phase.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Annual Trends: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Bird strike incidents have increased since 2003, peaking in 2009. This trend underscores a growing need for proactive measures as flight volumes and urban encroachment near airports rise.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Cost Analysis Insights:</a:t>
            </a:r>
            <a:endParaRPr b="1"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Models such as ADA Boosting and Random Forest were effective in assessing financial impacts, with recall values nearing 99%, suggesting strong capabilities in identifying costly incidents.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82" name="Google Shape;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225" y="3954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>
            <p:ph type="title"/>
          </p:nvPr>
        </p:nvSpPr>
        <p:spPr>
          <a:xfrm>
            <a:off x="819150" y="600975"/>
            <a:ext cx="75057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476575" y="1190775"/>
            <a:ext cx="7848300" cy="36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Operational Improvements:</a:t>
            </a:r>
            <a:br>
              <a:rPr b="1" lang="en" sz="1900">
                <a:solidFill>
                  <a:srgbClr val="000000"/>
                </a:solidFill>
              </a:rPr>
            </a:br>
            <a:r>
              <a:rPr lang="en" sz="1900">
                <a:solidFill>
                  <a:srgbClr val="000000"/>
                </a:solidFill>
              </a:rPr>
              <a:t>Airlines can use predictive insights to enhance pre-flight assessments and adjust operational procedures, focusing on high-risk flight phases like landing approaches.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Economic Benefits:</a:t>
            </a:r>
            <a:r>
              <a:rPr lang="en" sz="1900">
                <a:solidFill>
                  <a:srgbClr val="000000"/>
                </a:solidFill>
              </a:rPr>
              <a:t>Proactively addressing bird strike risks can significantly reduce repair costs, minimize flight delays, and improve overall operational efficiency.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Technological Enhancements:</a:t>
            </a:r>
            <a:r>
              <a:rPr lang="en" sz="1900">
                <a:solidFill>
                  <a:srgbClr val="000000"/>
                </a:solidFill>
              </a:rPr>
              <a:t>Aircraft manufacturers can prioritize research into engine designs and structural reinforcements to better withstand wildlife encounters.</a:t>
            </a:r>
            <a:endParaRPr sz="1900">
              <a:solidFill>
                <a:srgbClr val="000000"/>
              </a:solidFill>
            </a:endParaRPr>
          </a:p>
        </p:txBody>
      </p:sp>
      <p:pic>
        <p:nvPicPr>
          <p:cNvPr id="290" name="Google Shape;2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18050" y="508000"/>
            <a:ext cx="1419725" cy="100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350" y="331975"/>
            <a:ext cx="1533600" cy="8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ctrTitle"/>
          </p:nvPr>
        </p:nvSpPr>
        <p:spPr>
          <a:xfrm>
            <a:off x="1891350" y="1895701"/>
            <a:ext cx="5361300" cy="13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 &amp; A</a:t>
            </a:r>
            <a:endParaRPr/>
          </a:p>
        </p:txBody>
      </p:sp>
      <p:pic>
        <p:nvPicPr>
          <p:cNvPr id="297" name="Google Shape;2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25" y="463525"/>
            <a:ext cx="2256482" cy="159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400" y="428750"/>
            <a:ext cx="2619575" cy="14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